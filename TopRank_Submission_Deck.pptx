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5400" b="1">
                <a:solidFill>
                  <a:srgbClr val="1E64C8"/>
                </a:solidFill>
                <a:latin typeface="Arial"/>
              </a:defRPr>
            </a:pPr>
            <a:r>
              <a:t>TopRank 🚀</a:t>
            </a:r>
          </a:p>
          <a:p>
            <a:pPr>
              <a:spcBef>
                <a:spcPts val="800"/>
              </a:spcBef>
              <a:defRPr sz="2400" b="1">
                <a:solidFill>
                  <a:srgbClr val="0F2043"/>
                </a:solidFill>
                <a:latin typeface="Arial"/>
              </a:defRPr>
            </a:pPr>
            <a:r>
              <a:t>Intelligent Candidate Discovery &amp; Ranking Engine</a:t>
            </a:r>
          </a:p>
          <a:p>
            <a:pPr>
              <a:spcBef>
                <a:spcPts val="2400"/>
              </a:spcBef>
              <a:defRPr sz="1600">
                <a:solidFill>
                  <a:srgbClr val="3C3C3C"/>
                </a:solidFill>
                <a:latin typeface="Arial"/>
              </a:defRPr>
            </a:pPr>
            <a:r>
              <a:t>Automated matching cascade for a founding Senior AI Engineer under strict CPU &amp; memory constraints.</a:t>
            </a:r>
          </a:p>
          <a:p>
            <a:pPr>
              <a:spcBef>
                <a:spcPts val="4800"/>
              </a:spcBef>
              <a:defRPr sz="1200" b="1">
                <a:solidFill>
                  <a:srgbClr val="0F2043"/>
                </a:solidFill>
                <a:latin typeface="Arial"/>
              </a:defRPr>
            </a:pPr>
            <a:r>
              <a:t>Team Name: Punith C  |  Team Leader Name: Punith C  |  Problem Statement: Intelligent Candidate 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E64C8"/>
                </a:solidFill>
                <a:latin typeface="Arial"/>
              </a:defRPr>
            </a:pPr>
            <a:r>
              <a:t>TOPRANK</a:t>
            </a:r>
          </a:p>
          <a:p>
            <a:pPr>
              <a:spcBef>
                <a:spcPts val="400"/>
              </a:spcBef>
              <a:defRPr sz="2800" b="1">
                <a:solidFill>
                  <a:srgbClr val="0F2043"/>
                </a:solidFill>
                <a:latin typeface="Arial"/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30352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F2043"/>
                </a:solidFill>
              </a:defRPr>
            </a:pPr>
            <a:r>
              <a:t>Proposed Solution Architecture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Multi-stage retrieval &amp; ranking engine engineered from scratch for high-volume (100k+) candidate screening.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Deterministic Anomaly validation firewall that immediately intercepts synthetically anomalous/fraudulent profiles.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Hybrid semantic retrieval combining precomputed MiniLM-L6-v2 embeddings (for O(1) latency) and a high-fidelity BGE Cross-Encoder model (for reranking top 200 candidates).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Deterministic scoring formula and rule-based tie-breakers to guarantee reproducible, consistent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F2043"/>
                </a:solidFill>
              </a:defRPr>
            </a:pPr>
            <a:r>
              <a:t>What Differentiates Our Approach?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O(N) Pre-computation Strategy: Reduces online encoding latency on CPU from ~7.5 minutes to under 8.5 seconds, saving 99% of compute.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Anti-Gullibility Guardrails: Heuristic filters explicitly penalize candidate keyword stuffing, title-chasing, and resume padding.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Dynamic Availability Weighting: Imputes null active dates/engagement rates, prioritizing active candidates over cold profiles.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Pristine local and web sandbox UIs hosted natively on Hugging Face Spaces.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E64C8"/>
                </a:solidFill>
                <a:latin typeface="Arial"/>
              </a:defRPr>
            </a:pPr>
            <a:r>
              <a:t>TOPRANK</a:t>
            </a:r>
          </a:p>
          <a:p>
            <a:pPr>
              <a:spcBef>
                <a:spcPts val="400"/>
              </a:spcBef>
              <a:defRPr sz="2800" b="1">
                <a:solidFill>
                  <a:srgbClr val="0F2043"/>
                </a:solidFill>
                <a:latin typeface="Arial"/>
              </a:defRPr>
            </a:pPr>
            <a:r>
              <a:t>JD Understanding &amp; Candidate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30352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F2043"/>
                </a:solidFill>
              </a:defRPr>
            </a:pPr>
            <a:r>
              <a:t>Key Requirements Extracted from JD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Experience Band: Ideal range is 5-9 years of experience in applied ML/AI.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Core Tech Stack: Production experience with embedding-based retrieval models and vector databases (Pinecone, Weaviate, Qdrant, Milvus, FAISS).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Rigorous Evaluation: Hands-on experience designing evaluation frameworks (NDCG, MAP, A/B test logs).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Product/Shipper Mindset: Prefers hands-on product-company experience over consulting-only or research-only backgrounds.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F2043"/>
                </a:solidFill>
              </a:defRPr>
            </a:pPr>
            <a:r>
              <a:t>Evaluating Fit Beyond Keywords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Gaussian suitability: Rather than strict YoE cutoffs, a Gaussian curve centered at 7.0 YoE evaluates experience smoothly.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LangChain-only &amp; CV/Speech penalties: Filters out generic 'framework wrappers' and computer vision-only profiles that mismatch NLP requirements.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Consulting &amp; Research penalties: Explicitly discounts candidates whose entire career is in consulting services or pure academia.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Engagement score validation: Down-weights candidates who are inactive or have extremely low interview response 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E64C8"/>
                </a:solidFill>
                <a:latin typeface="Arial"/>
              </a:defRPr>
            </a:pPr>
            <a:r>
              <a:t>TOPRANK</a:t>
            </a:r>
          </a:p>
          <a:p>
            <a:pPr>
              <a:spcBef>
                <a:spcPts val="400"/>
              </a:spcBef>
              <a:defRPr sz="2800" b="1">
                <a:solidFill>
                  <a:srgbClr val="0F2043"/>
                </a:solidFill>
                <a:latin typeface="Arial"/>
              </a:defRPr>
            </a:pPr>
            <a:r>
              <a:t>Ranking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F2043"/>
                </a:solidFill>
              </a:defRPr>
            </a:pPr>
            <a:r>
              <a:t>How the Multi-Stage Cascade Works:</a:t>
            </a:r>
          </a:p>
          <a:p>
            <a:pPr>
              <a:spcBef>
                <a:spcPts val="1000"/>
              </a:spcBef>
              <a:defRPr sz="1400" b="1">
                <a:solidFill>
                  <a:srgbClr val="1E64C8"/>
                </a:solidFill>
              </a:defRPr>
            </a:pPr>
            <a:r>
              <a:t>1. Data Ingestion &amp; Filtration — </a:t>
            </a:r>
            <a:r>
              <a:rPr b="0">
                <a:solidFill>
                  <a:srgbClr val="3C3C3C"/>
                </a:solidFill>
              </a:rPr>
              <a:t>100k JSONL profiles are streamed. A profile validation firewall applies 10 logical traps to instantly drop anomalous profiles.</a:t>
            </a:r>
          </a:p>
          <a:p>
            <a:pPr>
              <a:spcBef>
                <a:spcPts val="1000"/>
              </a:spcBef>
              <a:defRPr sz="1400" b="1">
                <a:solidFill>
                  <a:srgbClr val="1E64C8"/>
                </a:solidFill>
              </a:defRPr>
            </a:pPr>
            <a:r>
              <a:t>2. First-Pass Semantic Retrieval — </a:t>
            </a:r>
            <a:r>
              <a:rPr b="0">
                <a:solidFill>
                  <a:srgbClr val="3C3C3C"/>
                </a:solidFill>
              </a:rPr>
              <a:t>Loads pre-computed sentence embeddings (all-MiniLM-L6-v2) for all candidates, filtering the top 200 via cosine similarity against the JD.</a:t>
            </a:r>
          </a:p>
          <a:p>
            <a:pPr>
              <a:spcBef>
                <a:spcPts val="1000"/>
              </a:spcBef>
              <a:defRPr sz="1400" b="1">
                <a:solidFill>
                  <a:srgbClr val="1E64C8"/>
                </a:solidFill>
              </a:defRPr>
            </a:pPr>
            <a:r>
              <a:t>3. Cross-Encoder Reranking — </a:t>
            </a:r>
            <a:r>
              <a:rPr b="0">
                <a:solidFill>
                  <a:srgbClr val="3C3C3C"/>
                </a:solidFill>
              </a:rPr>
              <a:t>Reranks the top 200 candidates on CPU using BAAI/bge-reranker-v2-m3, evaluating raw titles, summaries, and career progression against the JD prompt.</a:t>
            </a:r>
          </a:p>
          <a:p>
            <a:pPr>
              <a:spcBef>
                <a:spcPts val="1000"/>
              </a:spcBef>
              <a:defRPr sz="1400" b="1">
                <a:solidFill>
                  <a:srgbClr val="1E64C8"/>
                </a:solidFill>
              </a:defRPr>
            </a:pPr>
            <a:r>
              <a:t>4. Feature &amp; Heuristic Scoring — </a:t>
            </a:r>
            <a:r>
              <a:rPr b="0">
                <a:solidFill>
                  <a:srgbClr val="3C3C3C"/>
                </a:solidFill>
              </a:rPr>
              <a:t>Calculates a composite score based on: Semantic Match (25%), Career Trajectory (45%), Skill Relevance (15%), Platform Signals (10%), and Availability (5%).</a:t>
            </a:r>
          </a:p>
          <a:p>
            <a:pPr>
              <a:spcBef>
                <a:spcPts val="1000"/>
              </a:spcBef>
              <a:defRPr sz="1400" b="1">
                <a:solidFill>
                  <a:srgbClr val="1E64C8"/>
                </a:solidFill>
              </a:defRPr>
            </a:pPr>
            <a:r>
              <a:t>5. Tie-Breaking &amp; Output — </a:t>
            </a:r>
            <a:r>
              <a:rPr b="0">
                <a:solidFill>
                  <a:srgbClr val="3C3C3C"/>
                </a:solidFill>
              </a:rPr>
              <a:t>Sorts candidates by score descending and breaks ties alphabetically using candidate IDs. Normalizes final top-100 scores to [0, 1].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E64C8"/>
                </a:solidFill>
                <a:latin typeface="Arial"/>
              </a:defRPr>
            </a:pPr>
            <a:r>
              <a:t>TOPRANK</a:t>
            </a:r>
          </a:p>
          <a:p>
            <a:pPr>
              <a:spcBef>
                <a:spcPts val="400"/>
              </a:spcBef>
              <a:defRPr sz="2800" b="1">
                <a:solidFill>
                  <a:srgbClr val="0F2043"/>
                </a:solidFill>
                <a:latin typeface="Arial"/>
              </a:defRPr>
            </a:pPr>
            <a:r>
              <a:t>Explainability &amp; Data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30352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F2043"/>
                </a:solidFill>
              </a:defRPr>
            </a:pPr>
            <a:r>
              <a:t>Generating Factual Explanations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Natural Language Generation (NLG) engine constructs 1-2 sentence reasonings for each of the top 100 candidates.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Zero Generative AI is used during explanation generation, completely eliminating LLM hallucinations or fabrication.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Directly references candidate's actual current title, current company, specific matching skills, YoE, notice period, and consulting/research concerns.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Maintains perfect consistency between candidate rank, score, and explanation tone.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F2043"/>
                </a:solidFill>
              </a:defRPr>
            </a:pPr>
            <a:r>
              <a:t>Data Validation &amp; Suspicious Profiles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Logical Timeline Checks: Flags dates where graduation starts after graduation ends, or career history exceeds YoE envelope.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Technological impossibility check: Catches fabricated timelines, such as candidates listing 48 months of LangChain experience.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Company founding year checks: Validates start dates against actual founding years of major companies (e.g., Pinecone in 2012).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Expert skill check: Instantly drops profiles with 'expert' proficiency and 0 months of duration.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E64C8"/>
                </a:solidFill>
                <a:latin typeface="Arial"/>
              </a:defRPr>
            </a:pPr>
            <a:r>
              <a:t>TOPRANK</a:t>
            </a:r>
          </a:p>
          <a:p>
            <a:pPr>
              <a:spcBef>
                <a:spcPts val="400"/>
              </a:spcBef>
              <a:defRPr sz="2800" b="1">
                <a:solidFill>
                  <a:srgbClr val="0F2043"/>
                </a:solidFill>
                <a:latin typeface="Arial"/>
              </a:defRPr>
            </a:pPr>
            <a: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F2043"/>
                </a:solidFill>
              </a:defRPr>
            </a:pPr>
            <a:r>
              <a:t>Pipeline Execution Lifecycle:</a:t>
            </a:r>
          </a:p>
          <a:p>
            <a:pPr>
              <a:spcBef>
                <a:spcPts val="800"/>
              </a:spcBef>
              <a:defRPr sz="1400" b="1">
                <a:solidFill>
                  <a:srgbClr val="1E64C8"/>
                </a:solidFill>
              </a:defRPr>
            </a:pPr>
            <a:r>
              <a:t>Step 1: Input ➜ </a:t>
            </a:r>
            <a:r>
              <a:rPr b="0">
                <a:solidFill>
                  <a:srgbClr val="3C3C3C"/>
                </a:solidFill>
              </a:rPr>
              <a:t>Stream 100,000 candidate profiles from candidates.jsonl file.</a:t>
            </a:r>
          </a:p>
          <a:p>
            <a:pPr>
              <a:spcBef>
                <a:spcPts val="800"/>
              </a:spcBef>
              <a:defRPr sz="1400" b="1">
                <a:solidFill>
                  <a:srgbClr val="1E64C8"/>
                </a:solidFill>
              </a:defRPr>
            </a:pPr>
            <a:r>
              <a:t>Step 2: Firewall ➜ </a:t>
            </a:r>
            <a:r>
              <a:rPr b="0">
                <a:solidFill>
                  <a:srgbClr val="3C3C3C"/>
                </a:solidFill>
              </a:rPr>
              <a:t>Apply 10 strict logical anomaly validation checks (rejecting honeypots).</a:t>
            </a:r>
          </a:p>
          <a:p>
            <a:pPr>
              <a:spcBef>
                <a:spcPts val="800"/>
              </a:spcBef>
              <a:defRPr sz="1400" b="1">
                <a:solidFill>
                  <a:srgbClr val="1E64C8"/>
                </a:solidFill>
              </a:defRPr>
            </a:pPr>
            <a:r>
              <a:t>Step 3: First-Pass ➜ </a:t>
            </a:r>
            <a:r>
              <a:rPr b="0">
                <a:solidFill>
                  <a:srgbClr val="3C3C3C"/>
                </a:solidFill>
              </a:rPr>
              <a:t>Compute and load candidate all-MiniLM-L6-v2 embeddings to extract top 200 candidates in ~0.1s.</a:t>
            </a:r>
          </a:p>
          <a:p>
            <a:pPr>
              <a:spcBef>
                <a:spcPts val="800"/>
              </a:spcBef>
              <a:defRPr sz="1400" b="1">
                <a:solidFill>
                  <a:srgbClr val="1E64C8"/>
                </a:solidFill>
              </a:defRPr>
            </a:pPr>
            <a:r>
              <a:t>Step 4: Reranking ➜ </a:t>
            </a:r>
            <a:r>
              <a:rPr b="0">
                <a:solidFill>
                  <a:srgbClr val="3C3C3C"/>
                </a:solidFill>
              </a:rPr>
              <a:t>Execute CPU cross-encoder (bge-reranker-v2-m3) on the top 200 candidates to capture deep semantics.</a:t>
            </a:r>
          </a:p>
          <a:p>
            <a:pPr>
              <a:spcBef>
                <a:spcPts val="800"/>
              </a:spcBef>
              <a:defRPr sz="1400" b="1">
                <a:solidFill>
                  <a:srgbClr val="1E64C8"/>
                </a:solidFill>
              </a:defRPr>
            </a:pPr>
            <a:r>
              <a:t>Step 5: Composite Scoring ➜ </a:t>
            </a:r>
            <a:r>
              <a:rPr b="0">
                <a:solidFill>
                  <a:srgbClr val="3C3C3C"/>
                </a:solidFill>
              </a:rPr>
              <a:t>Incorporate career trajectory penalties, skill counts, availability, and engagement scores.</a:t>
            </a:r>
          </a:p>
          <a:p>
            <a:pPr>
              <a:spcBef>
                <a:spcPts val="800"/>
              </a:spcBef>
              <a:defRPr sz="1400" b="1">
                <a:solidFill>
                  <a:srgbClr val="1E64C8"/>
                </a:solidFill>
              </a:defRPr>
            </a:pPr>
            <a:r>
              <a:t>Step 6: NLG Generation ➜ </a:t>
            </a:r>
            <a:r>
              <a:rPr b="0">
                <a:solidFill>
                  <a:srgbClr val="3C3C3C"/>
                </a:solidFill>
              </a:rPr>
              <a:t>Format fact-based, hallucination-free reasoning strings for the top 100 candidates.</a:t>
            </a:r>
          </a:p>
          <a:p>
            <a:pPr>
              <a:spcBef>
                <a:spcPts val="800"/>
              </a:spcBef>
              <a:defRPr sz="1400" b="1">
                <a:solidFill>
                  <a:srgbClr val="1E64C8"/>
                </a:solidFill>
              </a:defRPr>
            </a:pPr>
            <a:r>
              <a:t>Step 7: Exporter ➜ </a:t>
            </a:r>
            <a:r>
              <a:rPr b="0">
                <a:solidFill>
                  <a:srgbClr val="3C3C3C"/>
                </a:solidFill>
              </a:rPr>
              <a:t>Sort by score/ID, assign ranks (1-100), and write to submission.csv and submission.xlsx.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E64C8"/>
                </a:solidFill>
                <a:latin typeface="Arial"/>
              </a:defRPr>
            </a:pPr>
            <a:r>
              <a:t>TOPRANK</a:t>
            </a:r>
          </a:p>
          <a:p>
            <a:pPr>
              <a:spcBef>
                <a:spcPts val="400"/>
              </a:spcBef>
              <a:defRPr sz="2800" b="1">
                <a:solidFill>
                  <a:srgbClr val="0F2043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F2043"/>
                </a:solidFill>
              </a:defRPr>
            </a:pPr>
            <a:r>
              <a:t>Modular System Design Diagram</a:t>
            </a:r>
          </a:p>
          <a:p>
            <a:pPr>
              <a:spcBef>
                <a:spcPts val="1400"/>
              </a:spcBef>
              <a:defRPr sz="1300">
                <a:solidFill>
                  <a:srgbClr val="1E64C8"/>
                </a:solidFill>
                <a:latin typeface="Courier New"/>
              </a:defRPr>
            </a:pPr>
            <a:r>
              <a:t>┌──────────────────────┐      ┌──────────────────────┐      ┌──────────────────────┐</a:t>
            </a:r>
            <a:br/>
            <a:r>
              <a:t>│  Dataloader (JSONL)  │ ───&gt; │  Profile Firewall    │ ───&gt; │   Feature Engine     │</a:t>
            </a:r>
            <a:br/>
            <a:r>
              <a:t>│  Streams 100k pool   │      │  10-trap Honeypots   │      │  Consulting, Hopper  │</a:t>
            </a:r>
            <a:br/>
            <a:r>
              <a:t>└──────────────────────┘      └──────────────────────┘      └──────────────────────┘</a:t>
            </a:r>
            <a:br/>
            <a:r>
              <a:t>                                                                      │</a:t>
            </a:r>
            <a:br/>
            <a:r>
              <a:t>┌──────────────────────┐      ┌──────────────────────┐      ┌─────────▼────────────┐</a:t>
            </a:r>
            <a:br/>
            <a:r>
              <a:t>│  Output Export       │      │  NLG Reasoning       │      │  Semantic Matcher    │</a:t>
            </a:r>
            <a:br/>
            <a:r>
              <a:t>│  CSV &amp; XLSX formats  │ &lt;─── │  Factual Justify     │ &lt;─── │  MiniLM + Reranker   │</a:t>
            </a:r>
            <a:br/>
            <a:r>
              <a:t>└──────────────────────┘      └──────────────────────┘      └──────────────────────┘</a:t>
            </a:r>
          </a:p>
          <a:p>
            <a:pPr>
              <a:spcBef>
                <a:spcPts val="2000"/>
              </a:spcBef>
              <a:defRPr sz="1300">
                <a:solidFill>
                  <a:srgbClr val="3C3C3C"/>
                </a:solidFill>
              </a:defRPr>
            </a:pPr>
            <a:r>
              <a:t>Core Components:</a:t>
            </a:r>
            <a:br/>
            <a:r>
              <a:t>• Dataloader: Memory-efficient streaming of 100K JSONL data records.</a:t>
            </a:r>
            <a:br/>
            <a:r>
              <a:t>• Firewall: Deterministic validation script that flags logically impossible candidate claims.</a:t>
            </a:r>
            <a:br/>
            <a:r>
              <a:t>• Feature Engine: Extracts 18 behavioral and trajectory signals matching job description requirements.</a:t>
            </a:r>
            <a:br/>
            <a:r>
              <a:t>• Semantic Matcher: Hybrid embedding retrieval system (MiniLM-L6-v2 + CPU BGE cross-encoder).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E64C8"/>
                </a:solidFill>
                <a:latin typeface="Arial"/>
              </a:defRPr>
            </a:pPr>
            <a:r>
              <a:t>TOPRANK</a:t>
            </a:r>
          </a:p>
          <a:p>
            <a:pPr>
              <a:spcBef>
                <a:spcPts val="400"/>
              </a:spcBef>
              <a:defRPr sz="2800" b="1">
                <a:solidFill>
                  <a:srgbClr val="0F2043"/>
                </a:solidFill>
                <a:latin typeface="Arial"/>
              </a:defRPr>
            </a:pPr>
            <a:r>
              <a:t>Results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30352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F2043"/>
                </a:solidFill>
              </a:defRPr>
            </a:pPr>
            <a:r>
              <a:t>Ranking Quality &amp; Insights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Elite Match: Rank 1 candidate (CAND_0081846) is currently a Lead AI Engineer at Razorpay, possessing 7 YoE (ideal band), strong RAG/retrieval skills, and immediate availability.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Zero Honeypots: Profile firewall intercepted all synthetic/anomalous candidates, achieving a 0% honeypot rate in the top 100 (threshold: &lt;10%).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Top-Tier Representation: Final list is dominated by genuine ML/AI specialists from top-tier product engineering teams (Flipkart, Swiggy, Zoho, Swiggy, Meesho).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F2043"/>
                </a:solidFill>
              </a:defRPr>
            </a:pPr>
            <a:r>
              <a:t>Meeting Challenge Constraints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Runtime Execution: Online ranking step (rank.py) runs in under 8.5 seconds (limit: ≤5 minutes).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Memory Footprint: Peak memory utilization is ~1.2 GB RAM (limit: ≤16 GB RAM).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Hardware Compatibility: 100% CPU execution with zero GPU requirements.</a:t>
            </a:r>
          </a:p>
          <a:p>
            <a:pPr>
              <a:spcBef>
                <a:spcPts val="1200"/>
              </a:spcBef>
              <a:defRPr sz="1400">
                <a:solidFill>
                  <a:srgbClr val="3C3C3C"/>
                </a:solidFill>
              </a:defRPr>
            </a:pPr>
            <a:r>
              <a:t>• Air-Gapped Ready: No network connection or external API calls are made during execution (complying with off-network requirements).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E64C8"/>
                </a:solidFill>
                <a:latin typeface="Arial"/>
              </a:defRPr>
            </a:pPr>
            <a:r>
              <a:t>TOPRANK</a:t>
            </a:r>
          </a:p>
          <a:p>
            <a:pPr>
              <a:spcBef>
                <a:spcPts val="400"/>
              </a:spcBef>
              <a:defRPr sz="2800" b="1">
                <a:solidFill>
                  <a:srgbClr val="0F2043"/>
                </a:solidFill>
                <a:latin typeface="Arial"/>
              </a:defRPr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F2043"/>
                </a:solidFill>
              </a:defRPr>
            </a:pPr>
            <a:r>
              <a:t>Tech Stack Selection Rationale</a:t>
            </a:r>
          </a:p>
          <a:p>
            <a:pPr>
              <a:spcBef>
                <a:spcPts val="800"/>
              </a:spcBef>
              <a:defRPr sz="1400" b="1">
                <a:solidFill>
                  <a:srgbClr val="1E64C8"/>
                </a:solidFill>
              </a:defRPr>
            </a:pPr>
            <a:r>
              <a:t>Python 3.10 (Core) — </a:t>
            </a:r>
            <a:r>
              <a:rPr b="0">
                <a:solidFill>
                  <a:srgbClr val="3C3C3C"/>
                </a:solidFill>
              </a:rPr>
              <a:t>Selected for ecosystem compatibility, allowing rapid, secure script execution and robust package dependencies.</a:t>
            </a:r>
          </a:p>
          <a:p>
            <a:pPr>
              <a:spcBef>
                <a:spcPts val="800"/>
              </a:spcBef>
              <a:defRPr sz="1400" b="1">
                <a:solidFill>
                  <a:srgbClr val="1E64C8"/>
                </a:solidFill>
              </a:defRPr>
            </a:pPr>
            <a:r>
              <a:t>Pandas &amp; NumPy — </a:t>
            </a:r>
            <a:r>
              <a:rPr b="0">
                <a:solidFill>
                  <a:srgbClr val="3C3C3C"/>
                </a:solidFill>
              </a:rPr>
              <a:t>Provides high-performance, in-memory operations for candidate ingestion, vector manipulation, and feature scaling.</a:t>
            </a:r>
          </a:p>
          <a:p>
            <a:pPr>
              <a:spcBef>
                <a:spcPts val="800"/>
              </a:spcBef>
              <a:defRPr sz="1400" b="1">
                <a:solidFill>
                  <a:srgbClr val="1E64C8"/>
                </a:solidFill>
              </a:defRPr>
            </a:pPr>
            <a:r>
              <a:t>Sentence-Transformers (all-MiniLM-L6-v2) — </a:t>
            </a:r>
            <a:r>
              <a:rPr b="0">
                <a:solidFill>
                  <a:srgbClr val="3C3C3C"/>
                </a:solidFill>
              </a:rPr>
              <a:t>Extracts candidate semantic similarities. Small size (22M params) runs extremely fast on CPU.</a:t>
            </a:r>
          </a:p>
          <a:p>
            <a:pPr>
              <a:spcBef>
                <a:spcPts val="800"/>
              </a:spcBef>
              <a:defRPr sz="1400" b="1">
                <a:solidFill>
                  <a:srgbClr val="1E64C8"/>
                </a:solidFill>
              </a:defRPr>
            </a:pPr>
            <a:r>
              <a:t>BAAI/bge-reranker-v2-m3 — </a:t>
            </a:r>
            <a:r>
              <a:rPr b="0">
                <a:solidFill>
                  <a:srgbClr val="3C3C3C"/>
                </a:solidFill>
              </a:rPr>
              <a:t>Used for deep-learning cross-encoder reranking of the top 200 candidates to evaluate structural and NLP/search relevance.</a:t>
            </a:r>
          </a:p>
          <a:p>
            <a:pPr>
              <a:spcBef>
                <a:spcPts val="800"/>
              </a:spcBef>
              <a:defRPr sz="1400" b="1">
                <a:solidFill>
                  <a:srgbClr val="1E64C8"/>
                </a:solidFill>
              </a:defRPr>
            </a:pPr>
            <a:r>
              <a:t>Gradio 4.44.1 — </a:t>
            </a:r>
            <a:r>
              <a:rPr b="0">
                <a:solidFill>
                  <a:srgbClr val="3C3C3C"/>
                </a:solidFill>
              </a:rPr>
              <a:t>Powers our web-based sandbox demo, providing a clean, responsive layout with support for secure file uploads and downloads.</a:t>
            </a:r>
          </a:p>
          <a:p>
            <a:pPr>
              <a:spcBef>
                <a:spcPts val="800"/>
              </a:spcBef>
              <a:defRPr sz="1400" b="1">
                <a:solidFill>
                  <a:srgbClr val="1E64C8"/>
                </a:solidFill>
              </a:defRPr>
            </a:pPr>
            <a:r>
              <a:t>OpenPyXL — </a:t>
            </a:r>
            <a:r>
              <a:rPr b="0">
                <a:solidFill>
                  <a:srgbClr val="3C3C3C"/>
                </a:solidFill>
              </a:rPr>
              <a:t>Converts our validated ranking output directly into the required XLSX format for final portal submission.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E64C8"/>
                </a:solidFill>
                <a:latin typeface="Arial"/>
              </a:defRPr>
            </a:pPr>
            <a:r>
              <a:t>TOPRANK</a:t>
            </a:r>
          </a:p>
          <a:p>
            <a:pPr>
              <a:spcBef>
                <a:spcPts val="400"/>
              </a:spcBef>
              <a:defRPr sz="2800" b="1">
                <a:solidFill>
                  <a:srgbClr val="0F2043"/>
                </a:solidFill>
                <a:latin typeface="Arial"/>
              </a:defRPr>
            </a:pPr>
            <a:r>
              <a:t>Submission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F2043"/>
                </a:solidFill>
              </a:defRPr>
            </a:pPr>
            <a:r>
              <a:t>Verified Submission Credentials</a:t>
            </a:r>
          </a:p>
          <a:p>
            <a:pPr>
              <a:spcBef>
                <a:spcPts val="1400"/>
              </a:spcBef>
              <a:defRPr sz="1500" b="1">
                <a:solidFill>
                  <a:srgbClr val="0F2043"/>
                </a:solidFill>
              </a:defRPr>
            </a:pPr>
            <a:r>
              <a:t>GitHub Repository (Public Access) : </a:t>
            </a:r>
            <a:r>
              <a:rPr b="1">
                <a:solidFill>
                  <a:srgbClr val="1E64C8"/>
                </a:solidFill>
              </a:rPr>
              <a:t>https://github.com/Punith968/TopRank</a:t>
            </a:r>
          </a:p>
          <a:p>
            <a:pPr>
              <a:spcBef>
                <a:spcPts val="200"/>
              </a:spcBef>
              <a:defRPr sz="1300">
                <a:solidFill>
                  <a:srgbClr val="3C3C3C"/>
                </a:solidFill>
              </a:defRPr>
            </a:pPr>
            <a:r>
              <a:t>Contains the clean, iterative git history, full pipeline code, and the submission metadata file.</a:t>
            </a:r>
          </a:p>
          <a:p>
            <a:pPr>
              <a:spcBef>
                <a:spcPts val="1400"/>
              </a:spcBef>
              <a:defRPr sz="1500" b="1">
                <a:solidFill>
                  <a:srgbClr val="0F2043"/>
                </a:solidFill>
              </a:defRPr>
            </a:pPr>
            <a:r>
              <a:t>Sandbox Demo (Hugging Face Spaces) : </a:t>
            </a:r>
            <a:r>
              <a:rPr b="1">
                <a:solidFill>
                  <a:srgbClr val="1E64C8"/>
                </a:solidFill>
              </a:rPr>
              <a:t>https://huggingface.co/spaces/Punith3068/TopRank</a:t>
            </a:r>
          </a:p>
          <a:p>
            <a:pPr>
              <a:spcBef>
                <a:spcPts val="200"/>
              </a:spcBef>
              <a:defRPr sz="1300">
                <a:solidFill>
                  <a:srgbClr val="3C3C3C"/>
                </a:solidFill>
              </a:defRPr>
            </a:pPr>
            <a:r>
              <a:t>A working web interface that accepts candidate JSONL uploads, executes the ranking cascade, and outputs results.</a:t>
            </a:r>
          </a:p>
          <a:p>
            <a:pPr>
              <a:spcBef>
                <a:spcPts val="1400"/>
              </a:spcBef>
              <a:defRPr sz="1500" b="1">
                <a:solidFill>
                  <a:srgbClr val="0F2043"/>
                </a:solidFill>
              </a:defRPr>
            </a:pPr>
            <a:r>
              <a:t>Output File (XLSX Format) : </a:t>
            </a:r>
            <a:r>
              <a:rPr b="1">
                <a:solidFill>
                  <a:srgbClr val="1E64C8"/>
                </a:solidFill>
              </a:rPr>
              <a:t>Punith C.xlsx</a:t>
            </a:r>
          </a:p>
          <a:p>
            <a:pPr>
              <a:spcBef>
                <a:spcPts val="200"/>
              </a:spcBef>
              <a:defRPr sz="1300">
                <a:solidFill>
                  <a:srgbClr val="3C3C3C"/>
                </a:solidFill>
              </a:defRPr>
            </a:pPr>
            <a:r>
              <a:t>A fully validated ranking file containing the top 100 candidates with custom natural language reasonings.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5400" b="1">
                <a:solidFill>
                  <a:srgbClr val="1E64C8"/>
                </a:solidFill>
                <a:latin typeface="Arial"/>
              </a:defRPr>
            </a:pPr>
            <a:r>
              <a:t>Thank You!</a:t>
            </a:r>
          </a:p>
          <a:p>
            <a:pPr>
              <a:spcBef>
                <a:spcPts val="800"/>
              </a:spcBef>
              <a:defRPr sz="2400" b="1">
                <a:solidFill>
                  <a:srgbClr val="0F2043"/>
                </a:solidFill>
                <a:latin typeface="Arial"/>
              </a:defRPr>
            </a:pPr>
            <a:r>
              <a:t>TopRank Candidate Discovery Engine</a:t>
            </a:r>
          </a:p>
          <a:p>
            <a:pPr>
              <a:spcBef>
                <a:spcPts val="2400"/>
              </a:spcBef>
              <a:defRPr sz="1600">
                <a:solidFill>
                  <a:srgbClr val="3C3C3C"/>
                </a:solidFill>
                <a:latin typeface="Arial"/>
              </a:defRPr>
            </a:pPr>
            <a:r>
              <a:t>Primary Contact: Punith C  |  Email: punithc2005@gmail.com  |  Phone: +91-9686587975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